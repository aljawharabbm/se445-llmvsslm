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5143500" type="screen16x9"/>
  <p:notesSz cx="5143500" cy="9144000"/>
  <p:embeddedFontLst>
    <p:embeddedFont>
      <p:font typeface="Roboto" panose="02000000000000000000" pitchFamily="2" charset="0"/>
      <p:regular r:id="rId23"/>
      <p:bold r:id="rId24"/>
      <p:italic r:id="rId25"/>
      <p:boldItalic r:id="rId26"/>
    </p:embeddedFont>
    <p:embeddedFont>
      <p:font typeface="Roboto Slab" pitchFamily="2" charset="0"/>
      <p:regular r:id="rId27"/>
      <p:bold r:id="rId28"/>
    </p:embeddedFont>
    <p:embeddedFont>
      <p:font typeface="Roboto Slab Light" pitchFamily="2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FD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5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7254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5.svg"/><Relationship Id="rId5" Type="http://schemas.openxmlformats.org/officeDocument/2006/relationships/image" Target="../media/image24.png"/><Relationship Id="rId4" Type="http://schemas.openxmlformats.org/officeDocument/2006/relationships/image" Target="../media/image23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11" Type="http://schemas.openxmlformats.org/officeDocument/2006/relationships/image" Target="../media/image40.svg"/><Relationship Id="rId5" Type="http://schemas.openxmlformats.org/officeDocument/2006/relationships/image" Target="../media/image34.sv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719709"/>
            <a:ext cx="457959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LLM vs SLM on the Edge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37529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Performance–Cost Trade-offs for Edge &amp; IoT Deployment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96119" y="2761580"/>
            <a:ext cx="2505521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3257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585936" y="2808833"/>
            <a:ext cx="2783086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455 · UG-9 · SPRING 2026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496119" y="3196977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Alfaisal University · Phase 3 Progress Presentation · 10–15 min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69094"/>
            <a:ext cx="533176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3 — Progress Feedback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624682"/>
            <a:ext cx="4107135" cy="2549723"/>
          </a:xfrm>
          <a:prstGeom prst="roundRect">
            <a:avLst>
              <a:gd name="adj" fmla="val 834"/>
            </a:avLst>
          </a:prstGeom>
          <a:solidFill>
            <a:srgbClr val="325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35781" y="176644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Course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129656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 455 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249822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Project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35781" y="2861444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UG-9 — Performance–Cost Trade-offs: LLM vs SLM (Edge / IoT)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5781" y="345683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Term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35781" y="3820046"/>
            <a:ext cx="4280818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Spring 2026 · Alfaisal University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176644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Today's Agenda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49701" y="2129656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is a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10–15 minute progress presentation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covering: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49701" y="2484016"/>
            <a:ext cx="3902943" cy="1055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Literature synthesis &amp; taxonomy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Identified research gaps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Preliminary architecture decisions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Implementation plan lock-in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D083C45-EF62-021B-5F83-E5B4AE1A5D9A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08" y="364852"/>
            <a:ext cx="3310310" cy="44137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17379" y="411435"/>
            <a:ext cx="4738241" cy="741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3 Objectives &amp; Today's Storyline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3917379" y="1301576"/>
            <a:ext cx="694432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01</a:t>
            </a:r>
            <a:endParaRPr lang="en-US" sz="9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379" y="1488802"/>
            <a:ext cx="4738241" cy="142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17379" y="1576685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Survey the Literature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3917379" y="1821582"/>
            <a:ext cx="5195441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Synthesize what's known about deploying language models under real edge constraints.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3917379" y="2183978"/>
            <a:ext cx="694432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02</a:t>
            </a:r>
            <a:endParaRPr lang="en-US" sz="9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379" y="2359372"/>
            <a:ext cx="4738241" cy="142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917379" y="2459087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Absorb Feedback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3917379" y="2703984"/>
            <a:ext cx="5195441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Incorporate instructor and peer critique to sharpen our mental model.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917379" y="3066380"/>
            <a:ext cx="694432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03</a:t>
            </a:r>
            <a:endParaRPr lang="en-US" sz="9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379" y="3229942"/>
            <a:ext cx="4738241" cy="142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917379" y="3341489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Lock the Plan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3917379" y="3586386"/>
            <a:ext cx="5195441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Finalize the implementation plan before the Phase 4 build and report.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3917379" y="3948782"/>
            <a:ext cx="694432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 Slab Light" pitchFamily="34" charset="0"/>
                <a:ea typeface="Roboto Slab Light" pitchFamily="34" charset="-122"/>
                <a:cs typeface="Roboto Slab Light" pitchFamily="34" charset="-120"/>
              </a:rPr>
              <a:t>04</a:t>
            </a:r>
            <a:endParaRPr lang="en-US" sz="9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7379" y="4100513"/>
            <a:ext cx="4738241" cy="142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917379" y="4223891"/>
            <a:ext cx="1939900" cy="1853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Define Metrics</a:t>
            </a:r>
            <a:endParaRPr lang="en-US" sz="1150" dirty="0"/>
          </a:p>
        </p:txBody>
      </p:sp>
      <p:sp>
        <p:nvSpPr>
          <p:cNvPr id="20" name="Text 13"/>
          <p:cNvSpPr/>
          <p:nvPr/>
        </p:nvSpPr>
        <p:spPr>
          <a:xfrm>
            <a:off x="3917379" y="4468788"/>
            <a:ext cx="5195441" cy="174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Commit to a single application and comparable, reproducible measurements.</a:t>
            </a:r>
            <a:endParaRPr lang="en-US" sz="9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C6FA15-99EB-3C49-2561-275C82AD0CBD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0" y="375419"/>
            <a:ext cx="3294385" cy="439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480789"/>
            <a:ext cx="4722763" cy="841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Why LLM vs SLM on the Edge Matters</a:t>
            </a:r>
            <a:endParaRPr lang="en-US" sz="2650" dirty="0"/>
          </a:p>
        </p:txBody>
      </p:sp>
      <p:sp>
        <p:nvSpPr>
          <p:cNvPr id="5" name="Text 2"/>
          <p:cNvSpPr/>
          <p:nvPr/>
        </p:nvSpPr>
        <p:spPr>
          <a:xfrm>
            <a:off x="3925119" y="1642393"/>
            <a:ext cx="2793504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LLM Problem at the Edge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925119" y="1980679"/>
            <a:ext cx="2449637" cy="126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Hyperscale LLMs deliver strong generative quality but depend on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data-center GPUs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large memory, and steady connectivity — a fundamental clash with edge constraints around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latency, privacy, and cost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925119" y="3369022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SLM Promise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3925119" y="3707309"/>
            <a:ext cx="2449637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SLMs and compressed LLMs offer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latency, reduced energy, and a smaller footprint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but may sacrifice accuracy or generality.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708130" y="1658392"/>
            <a:ext cx="1944439" cy="1027658"/>
          </a:xfrm>
          <a:prstGeom prst="roundRect">
            <a:avLst>
              <a:gd name="adj" fmla="val 1966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842745" y="1793007"/>
            <a:ext cx="213240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Target Devices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42745" y="2131293"/>
            <a:ext cx="1675209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Raspberry Pi · Jetson Nano · Mobile NPUs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08130" y="2813968"/>
            <a:ext cx="1944439" cy="1447800"/>
          </a:xfrm>
          <a:prstGeom prst="roundRect">
            <a:avLst>
              <a:gd name="adj" fmla="val 1395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842745" y="2948583"/>
            <a:ext cx="213240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Core Tension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42745" y="3286869"/>
            <a:ext cx="1675209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far can the performance–cost trade-off be pushed under </a:t>
            </a:r>
            <a:r>
              <a:rPr lang="en-US" sz="105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edge constraints?</a:t>
            </a:r>
            <a:endParaRPr lang="en-US" sz="10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D23261-D151-7F3A-7C35-719789C6B277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7406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Research Questions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6391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questions the literature partially answers — but does not close uniformly across papers: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550194"/>
            <a:ext cx="4004965" cy="1507034"/>
          </a:xfrm>
          <a:prstGeom prst="roundRect">
            <a:avLst>
              <a:gd name="adj" fmla="val 1411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15169" y="1569244"/>
            <a:ext cx="3966865" cy="425276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163663" y="1648941"/>
            <a:ext cx="4412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56927" y="2136279"/>
            <a:ext cx="25472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Accuracy, Latency &amp; Cost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56927" y="2442790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do accuracy, latency, memory, energy, and cost compare across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vs edge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LLMs vs SLMs?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42842" y="1550194"/>
            <a:ext cx="4005039" cy="1507034"/>
          </a:xfrm>
          <a:prstGeom prst="roundRect">
            <a:avLst>
              <a:gd name="adj" fmla="val 1411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61892" y="1569244"/>
            <a:ext cx="3966939" cy="425276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10461" y="1648941"/>
            <a:ext cx="4412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803651" y="2136279"/>
            <a:ext cx="288972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Architectures &amp; Compression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03651" y="2442790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Which architectures and compression choices make SLMs and quantized LLMs viable on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hardware budgets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?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6119" y="3198986"/>
            <a:ext cx="4004965" cy="1507034"/>
          </a:xfrm>
          <a:prstGeom prst="roundRect">
            <a:avLst>
              <a:gd name="adj" fmla="val 1411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5169" y="3218036"/>
            <a:ext cx="3966865" cy="425276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63663" y="3297734"/>
            <a:ext cx="4412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56927" y="3785071"/>
            <a:ext cx="240528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Deployment Topologies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6927" y="4091583"/>
            <a:ext cx="36833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do cloud-only, edge-only, and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collaborative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topologies reshape the performance–cost trade-off?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42842" y="3198986"/>
            <a:ext cx="4005039" cy="1507034"/>
          </a:xfrm>
          <a:prstGeom prst="roundRect">
            <a:avLst>
              <a:gd name="adj" fmla="val 1411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661892" y="3218036"/>
            <a:ext cx="3966939" cy="425276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10461" y="3297734"/>
            <a:ext cx="441201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4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803651" y="378507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Benchmarking Gaps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03651" y="4091583"/>
            <a:ext cx="368342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gaps still block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systematic comparison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real-world edge deployment practice?</a:t>
            </a:r>
            <a:endParaRPr lang="en-US" sz="11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F509ABA-11C7-A358-E75E-BD2B46370B45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822" y="249734"/>
            <a:ext cx="4802014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Survey Map — Four Synthesized Themes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22" y="686098"/>
            <a:ext cx="4143449" cy="4143449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822" y="686098"/>
            <a:ext cx="4143449" cy="414344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687491" y="2262634"/>
            <a:ext cx="1954560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We Read the Literature</a:t>
            </a:r>
            <a:endParaRPr lang="en-US" sz="850" dirty="0"/>
          </a:p>
        </p:txBody>
      </p:sp>
      <p:sp>
        <p:nvSpPr>
          <p:cNvPr id="6" name="Text 2"/>
          <p:cNvSpPr/>
          <p:nvPr/>
        </p:nvSpPr>
        <p:spPr>
          <a:xfrm>
            <a:off x="4687491" y="2462659"/>
            <a:ext cx="4143449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Empirical work clusters into these four themes, each illuminating a distinct facet of the edge deployment challenge: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4687491" y="2753246"/>
            <a:ext cx="4143449" cy="5374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 &amp; thermal limits</a:t>
            </a: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dominate on-device benchmarks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Parameter efficiency</a:t>
            </a: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not raw scale — defines SLM design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Bit-width and kernel behavior</a:t>
            </a: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interact sharply with hardware targets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Topology</a:t>
            </a: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inseparable from model scale when judging cost</a:t>
            </a:r>
            <a:endParaRPr lang="en-US" sz="7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379E379-CA58-6BD3-AFA1-E8BEEE036584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822" y="249734"/>
            <a:ext cx="6850335" cy="28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Theme 1 — Benchmarking &amp; Memory-Bound Edge Inference</a:t>
            </a:r>
            <a:endParaRPr lang="en-US" sz="1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22" y="686098"/>
            <a:ext cx="4143449" cy="41434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87491" y="2229445"/>
            <a:ext cx="1592387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Finding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687491" y="2429470"/>
            <a:ext cx="4143449" cy="238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LM inference is </a:t>
            </a:r>
            <a:r>
              <a:rPr lang="en-US" sz="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frequently memory-bound</a:t>
            </a: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Quantization lowers RAM pressure but introduces </a:t>
            </a:r>
            <a:r>
              <a:rPr lang="en-US" sz="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 and thermal risks</a:t>
            </a: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under continuous workloads.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687491" y="2725862"/>
            <a:ext cx="1740471" cy="141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Cross-Paper Takeaways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687491" y="2925887"/>
            <a:ext cx="4143449" cy="3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Compression curves are </a:t>
            </a:r>
            <a:r>
              <a:rPr lang="en-US" sz="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hardware-sensitive</a:t>
            </a: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no universal winner across CPU / GPU / NPU paths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Distributed edge setups can match cloud latency at lower cost</a:t>
            </a:r>
            <a:endParaRPr lang="en-US" sz="700" dirty="0"/>
          </a:p>
          <a:p>
            <a:pPr marL="342900" indent="-342900" algn="l">
              <a:lnSpc>
                <a:spcPct val="109000"/>
              </a:lnSpc>
              <a:buSzPct val="100000"/>
              <a:buChar char="•"/>
            </a:pPr>
            <a:r>
              <a:rPr lang="en-US" sz="7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Fallback mechanisms</a:t>
            </a:r>
            <a:r>
              <a:rPr lang="en-US" sz="7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remain necessary when edge capacity is exceeded</a:t>
            </a:r>
            <a:endParaRPr lang="en-US" sz="7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4DF9B2-5C72-E89C-AB36-A45879051F40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7" y="372666"/>
            <a:ext cx="3298627" cy="43981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09640" y="504751"/>
            <a:ext cx="4753719" cy="81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Theme 2 — SLM Design &amp; Task-Fit</a:t>
            </a:r>
            <a:endParaRPr lang="en-US" sz="2550" dirty="0"/>
          </a:p>
        </p:txBody>
      </p:sp>
      <p:sp>
        <p:nvSpPr>
          <p:cNvPr id="5" name="Shape 2"/>
          <p:cNvSpPr/>
          <p:nvPr/>
        </p:nvSpPr>
        <p:spPr>
          <a:xfrm>
            <a:off x="3909640" y="1500113"/>
            <a:ext cx="4753719" cy="966192"/>
          </a:xfrm>
          <a:prstGeom prst="roundRect">
            <a:avLst>
              <a:gd name="adj" fmla="val 7098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53" y="1500113"/>
            <a:ext cx="57150" cy="9661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97238" y="1644848"/>
            <a:ext cx="2648396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"Small" Means Fit-to-Budget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097238" y="1920776"/>
            <a:ext cx="4421386" cy="400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Surveys argue "small" should be understood as </a:t>
            </a: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fit-to-task and hardware budget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not merely a parameter cutoff number.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909640" y="2586335"/>
            <a:ext cx="4753719" cy="966192"/>
          </a:xfrm>
          <a:prstGeom prst="roundRect">
            <a:avLst>
              <a:gd name="adj" fmla="val 7098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53" y="2586335"/>
            <a:ext cx="57150" cy="9661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097238" y="2731071"/>
            <a:ext cx="2680022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Architectural Choices Matter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4097238" y="3006998"/>
            <a:ext cx="4421386" cy="400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sub-billion parameter regimes, </a:t>
            </a: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depth–width balance, shared embeddings, and grouped-query attention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can lift quality substantially.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909640" y="3672557"/>
            <a:ext cx="4753719" cy="966192"/>
          </a:xfrm>
          <a:prstGeom prst="roundRect">
            <a:avLst>
              <a:gd name="adj" fmla="val 7098"/>
            </a:avLst>
          </a:prstGeom>
          <a:solidFill>
            <a:srgbClr val="FBFCFE"/>
          </a:solidFill>
          <a:ln w="14288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53" y="3672557"/>
            <a:ext cx="57150" cy="9661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097238" y="3817293"/>
            <a:ext cx="2276773" cy="203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 Scalability Tension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4097238" y="4093220"/>
            <a:ext cx="4421386" cy="400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Empirical sweeps show that modest accuracy gains often require </a:t>
            </a: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multiplicative VRAM growth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the core efficiency tension UG-9 investigates.</a:t>
            </a:r>
            <a:endParaRPr lang="en-US" sz="1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60C954-F788-4CFC-E1EA-B4DF3BB97C8B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9348"/>
            <a:ext cx="7852321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Theme 3 — Compression &amp; Quantization Cautions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600" y="1335435"/>
            <a:ext cx="4670673" cy="25522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2897" y="2531317"/>
            <a:ext cx="1310837" cy="147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Full LLM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104330" y="2441090"/>
            <a:ext cx="1082237" cy="294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Apply int4 Quantization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769325" y="2446407"/>
            <a:ext cx="1082237" cy="294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9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Compressed Edge Model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96119" y="4016871"/>
            <a:ext cx="5189711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compression strategies report joint improvements in memory, latency, throughput, and energy — but hardware sensitivity demands careful validation.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01792" y="1319436"/>
            <a:ext cx="2650778" cy="1477268"/>
          </a:xfrm>
          <a:prstGeom prst="roundRect">
            <a:avLst>
              <a:gd name="adj" fmla="val 1296"/>
            </a:avLst>
          </a:prstGeom>
          <a:solidFill>
            <a:srgbClr val="FCF2B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9338" y="1505322"/>
            <a:ext cx="159469" cy="1275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16353" y="1466106"/>
            <a:ext cx="2108671" cy="116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Caution:</a:t>
            </a: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SLMs are not miniature LLMs. Sensitivity to bit patterns differs fundamentally — LLM-tuned quantization recipes can be sub-optimal or harmful when applied to SLMs.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001792" y="2925887"/>
            <a:ext cx="2546970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What the Literature Reports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001792" y="3239988"/>
            <a:ext cx="2650778" cy="12439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Int4-class schemes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can slash resource use with only minor accuracy loss on LLMs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Large-scale benchmarks measure memory, latency, throughput, and energy </a:t>
            </a:r>
            <a:r>
              <a:rPr lang="en-US" sz="1000" i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jointly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SLM-focused quantization requires </a:t>
            </a:r>
            <a:r>
              <a:rPr lang="en-US" sz="10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separate tuning</a:t>
            </a:r>
            <a:r>
              <a:rPr lang="en-US" sz="1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sensitivity analysis</a:t>
            </a:r>
            <a:endParaRPr lang="en-US" sz="1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34A164-E4AC-6198-D59D-3BBE5EC46DAB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04" y="361355"/>
            <a:ext cx="3315593" cy="442079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535409"/>
            <a:ext cx="4722763" cy="70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Theme 4 — Hybrid Cloud–Edge Orchestration</a:t>
            </a:r>
            <a:endParaRPr lang="en-US" sz="2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1380158"/>
            <a:ext cx="283518" cy="2835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925119" y="1777082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 Partitioning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3925119" y="2008659"/>
            <a:ext cx="4722763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Partition and shard layers across edge plus cloud nodes to distribute inference load and reduce per-device burden.</a:t>
            </a:r>
            <a:endParaRPr lang="en-US" sz="8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25119" y="2516609"/>
            <a:ext cx="283518" cy="28351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25119" y="2913534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Intelligent Routing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3925119" y="3145110"/>
            <a:ext cx="4722763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 easy utterances to the </a:t>
            </a: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edge SLM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hard tasks to the </a:t>
            </a: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LLM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lowering perceived latency without sacrificing accuracy.</a:t>
            </a:r>
            <a:endParaRPr lang="en-US" sz="8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925119" y="3653061"/>
            <a:ext cx="283518" cy="28351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925119" y="4049985"/>
            <a:ext cx="18748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Implication for UG-9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3925119" y="4281562"/>
            <a:ext cx="4722763" cy="3265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Deployment topology</a:t>
            </a:r>
            <a:r>
              <a:rPr lang="en-US" sz="8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belongs in the same sentence as model scale — both are first-class variables when judging cost and user experience.</a:t>
            </a:r>
            <a:endParaRPr lang="en-US" sz="85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EE76AB6-8AC3-4383-BDBA-74A5D2FC5D74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1460748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Hybrid Cloud–Edge Orchestration for LLM Deployment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25119" y="3002310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taxonomy, benchmark, and implementation study exploring how model scale, deployment location, and optimization objectives shape cost, latency, and accuracy for UG-9.</a:t>
            </a:r>
            <a:endParaRPr lang="en-US" sz="11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C90129-279E-12E3-28C9-1734D1C011F8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4726" y="378693"/>
            <a:ext cx="3289474" cy="43860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8379" y="421407"/>
            <a:ext cx="4738241" cy="872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Hybrid Cloud–Edge: The Core Idea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88379" y="1499592"/>
            <a:ext cx="4738241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approaches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partition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models across nodes,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shard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layers to edge plus cloud, or </a:t>
            </a:r>
            <a:r>
              <a:rPr lang="en-US" sz="105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</a:t>
            </a: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easy utterances to an edge SLM and hard tasks to a cloud LLM.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88379" y="2318445"/>
            <a:ext cx="2300436" cy="1243831"/>
          </a:xfrm>
          <a:prstGeom prst="roundRect">
            <a:avLst>
              <a:gd name="adj" fmla="val 168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7906" y="2457971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Lower Latency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27906" y="2758380"/>
            <a:ext cx="2021384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Perceived latency drops by offloading simpler tasks to the edge.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26184" y="2318445"/>
            <a:ext cx="2300436" cy="1243831"/>
          </a:xfrm>
          <a:prstGeom prst="roundRect">
            <a:avLst>
              <a:gd name="adj" fmla="val 1683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065711" y="2457971"/>
            <a:ext cx="2201540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Better Throughput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3065711" y="2758380"/>
            <a:ext cx="2021384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handles complex tasks without bottlenecking edge capacity.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88379" y="3699644"/>
            <a:ext cx="4738241" cy="1022375"/>
          </a:xfrm>
          <a:prstGeom prst="roundRect">
            <a:avLst>
              <a:gd name="adj" fmla="val 2047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27906" y="3839170"/>
            <a:ext cx="2924324" cy="218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Deployment Topology Matters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27906" y="4139580"/>
            <a:ext cx="44591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Topology belongs in the same sentence as model scale when judging cost and experience.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42702"/>
            <a:ext cx="60320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 Three-Axis Taxonomy for UG-9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86920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literature and our experiment are organized along three axes that repeatedly reappear in surveyed papers.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2255490"/>
            <a:ext cx="354360" cy="35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278703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Model Scale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96119" y="3093541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Cloud-scale LLMs · Mid-size SLMs (~single-digit billions) · Tiny/embedded models (&lt;1B params) tuned for latency and energy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72433" y="2255490"/>
            <a:ext cx="354360" cy="3543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2433" y="2787030"/>
            <a:ext cx="223316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Deployment Location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3272433" y="3093541"/>
            <a:ext cx="259913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Cloud-only · Edge-only · Collaborative with offload, fallback, or partitioning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48747" y="2255490"/>
            <a:ext cx="354360" cy="35436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48747" y="2787030"/>
            <a:ext cx="235021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Optimization Objective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048747" y="3093541"/>
            <a:ext cx="259913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Accuracy-first · Cost/energy-first · Balanced multi-objective policies adapting batch size, frequency, or model choice at runtime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555757-0DD9-6C42-FE70-7491AF3974C7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70334"/>
            <a:ext cx="531100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Insights from the Survey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474988" y="1761083"/>
            <a:ext cx="25716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SLMs &amp; Quantized Stacks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3474988" y="2124298"/>
            <a:ext cx="517758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Often reach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task-specific quality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near much larger models while cutting latency, power, and memory — but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single recipe wins everywhere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Hardware, workload, and decoding details shift the Pareto front.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3474988" y="2964210"/>
            <a:ext cx="5177582" cy="1056010"/>
          </a:xfrm>
          <a:prstGeom prst="roundRect">
            <a:avLst>
              <a:gd name="adj" fmla="val 201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747" y="3179266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935685" y="3141390"/>
            <a:ext cx="4575125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Hybrid deployments improve perceived responsiveness and cost </a:t>
            </a:r>
            <a:r>
              <a:rPr lang="en-US" sz="1100" b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if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routing and capacity planning are honest about when the edge model fails.</a:t>
            </a:r>
            <a:endParaRPr lang="en-US" sz="11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95CA2E-D549-628F-13C5-962E7C0D39C7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268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Identified Gaps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918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literature agrees on problems more often than on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numbers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Four areas still need systematic work: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975470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1975470"/>
            <a:ext cx="76200" cy="10817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213627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Unified Benchmarks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2442790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Jointly reporting accuracy, latency, energy, memory, and cost on aligned tasks.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42842" y="1975470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792" y="1975470"/>
            <a:ext cx="76200" cy="108175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860801" y="2136279"/>
            <a:ext cx="246831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Compression Validation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860801" y="2442790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Methods validated specifically for SLM failure modes at low bit widths.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96119" y="3198986"/>
            <a:ext cx="4004965" cy="1081757"/>
          </a:xfrm>
          <a:prstGeom prst="roundRect">
            <a:avLst>
              <a:gd name="adj" fmla="val 845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9" y="3198986"/>
            <a:ext cx="76200" cy="108175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14077" y="335979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End-to-End Studies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714077" y="3666306"/>
            <a:ext cx="362619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Folding in networking, batching, thermal throttling, and user interaction — not just kernels in isolation.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642842" y="3198986"/>
            <a:ext cx="4005039" cy="1081757"/>
          </a:xfrm>
          <a:prstGeom prst="roundRect">
            <a:avLst>
              <a:gd name="adj" fmla="val 8453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3792" y="3198986"/>
            <a:ext cx="76200" cy="108175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860801" y="3359795"/>
            <a:ext cx="33684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Robustness Under Resource Limits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860801" y="3666306"/>
            <a:ext cx="3626272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Hallucination and format errors become safety issues for actuators when resources are constrained.</a:t>
            </a:r>
            <a:endParaRPr lang="en-US" sz="11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1440A2-D425-35C5-DD24-A38B45446F72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Preliminary System Architecture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is deliberately narrow: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one application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natural-language IoT-style commands mapped to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JSON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executed locally without cloud APIs for full replicability.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94941"/>
            <a:ext cx="4491038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Two Benchmark Tracks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92144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single CLI orchestrates both tracks on shared prompts and scoring.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2467198"/>
            <a:ext cx="1880592" cy="1321817"/>
          </a:xfrm>
          <a:prstGeom prst="roundRect">
            <a:avLst>
              <a:gd name="adj" fmla="val 16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37877" y="2608957"/>
            <a:ext cx="15970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Track A — Hugging Face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3193628"/>
            <a:ext cx="15970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Seq2seq path using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FLAN-T5-small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18470" y="2467198"/>
            <a:ext cx="1880592" cy="1321817"/>
          </a:xfrm>
          <a:prstGeom prst="roundRect">
            <a:avLst>
              <a:gd name="adj" fmla="val 1609"/>
            </a:avLst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660228" y="2608957"/>
            <a:ext cx="1597075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Track B — GGUF Decoder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60228" y="3193628"/>
            <a:ext cx="159707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SmolLM2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at IQ3_XS vs Q4_K_M via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llama.cpp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49701" y="244948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Shared Evaluation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749701" y="2812703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same extractor and scorer enforce comparable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field accuracy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Logs capture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latency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and </a:t>
            </a: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memory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proxies suitable for a classroom benchmark.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E0861E-FCA7-8C1C-4933-4C4B68E8B144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64728"/>
            <a:ext cx="590914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Implementation Plan &amp; Timeline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291233"/>
            <a:ext cx="6339185" cy="290125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9492" y="2015598"/>
            <a:ext cx="407583" cy="40758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27761" y="3503531"/>
            <a:ext cx="14187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Reporting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27357" y="2016363"/>
            <a:ext cx="407583" cy="40758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527856" y="3503531"/>
            <a:ext cx="1418743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Analysis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35603" y="2016363"/>
            <a:ext cx="407583" cy="40758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3036102" y="3503531"/>
            <a:ext cx="14187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Benchmark</a:t>
            </a:r>
            <a:endParaRPr lang="en-US" sz="1400" dirty="0"/>
          </a:p>
        </p:txBody>
      </p:sp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135697" y="2016363"/>
            <a:ext cx="407583" cy="40758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1511741" y="3503531"/>
            <a:ext cx="14187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Literature</a:t>
            </a:r>
            <a:endParaRPr lang="en-US" sz="1400" dirty="0"/>
          </a:p>
        </p:txBody>
      </p:sp>
      <p:sp>
        <p:nvSpPr>
          <p:cNvPr id="12" name="Text 5"/>
          <p:cNvSpPr/>
          <p:nvPr/>
        </p:nvSpPr>
        <p:spPr>
          <a:xfrm>
            <a:off x="496119" y="43519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 3 locks the plan; Phase 4 delivers code plus paper. Every table ties to rerunnable commands.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71760B-2BB9-EB23-A35E-DB291175B7B2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11907"/>
            <a:ext cx="626819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Expected Challenges &amp; Mitigations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0925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372469"/>
            <a:ext cx="3902943" cy="1282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Cold-start effects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inflating first-sample latency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Strict JSON scoring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exposing generative drift as zero accuracy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 variability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across laptops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GGUF runtime constraints</a:t>
            </a: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sandboxed environments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49701" y="2009254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Mitigations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49701" y="2372469"/>
            <a:ext cx="3902943" cy="15095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Documented replication commands &amp; pinned dependencies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Transparent negative results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Serial benchmarking to reduce interference</a:t>
            </a:r>
            <a:endParaRPr lang="en-US" sz="11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Honest discussion of schema mismatch vs. model incompetence</a:t>
            </a:r>
            <a:endParaRPr lang="en-US" sz="11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7C99E4-57BF-6433-5D92-3E215A388E71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9ECF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70" y="375419"/>
            <a:ext cx="3294385" cy="43925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696813"/>
            <a:ext cx="5000997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Phase 3 Feedback Requested</a:t>
            </a:r>
            <a:endParaRPr lang="en-US" sz="2650" dirty="0"/>
          </a:p>
        </p:txBody>
      </p:sp>
      <p:sp>
        <p:nvSpPr>
          <p:cNvPr id="5" name="Shape 2"/>
          <p:cNvSpPr/>
          <p:nvPr/>
        </p:nvSpPr>
        <p:spPr>
          <a:xfrm>
            <a:off x="3925119" y="1511573"/>
            <a:ext cx="2297385" cy="1407616"/>
          </a:xfrm>
          <a:prstGeom prst="roundRect">
            <a:avLst>
              <a:gd name="adj" fmla="val 649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1492523"/>
            <a:ext cx="2297385" cy="76200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777" y="1309613"/>
            <a:ext cx="403994" cy="4039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64398" y="1410593"/>
            <a:ext cx="390153" cy="201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4078784" y="1848222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Taxonomy Fit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4078784" y="2135312"/>
            <a:ext cx="1990055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the three-axis taxonomy match real cloud / edge / hybrid decisions?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6350422" y="1511573"/>
            <a:ext cx="2297460" cy="1407616"/>
          </a:xfrm>
          <a:prstGeom prst="roundRect">
            <a:avLst>
              <a:gd name="adj" fmla="val 649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0422" y="1492523"/>
            <a:ext cx="2297460" cy="76200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7155" y="1309613"/>
            <a:ext cx="403994" cy="40399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189775" y="1410593"/>
            <a:ext cx="390153" cy="201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2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6504087" y="1848222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Metric Bundle</a:t>
            </a:r>
            <a:endParaRPr lang="en-US" sz="1300" dirty="0"/>
          </a:p>
        </p:txBody>
      </p:sp>
      <p:sp>
        <p:nvSpPr>
          <p:cNvPr id="16" name="Text 9"/>
          <p:cNvSpPr/>
          <p:nvPr/>
        </p:nvSpPr>
        <p:spPr>
          <a:xfrm>
            <a:off x="6504087" y="2135312"/>
            <a:ext cx="1990130" cy="630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 our metric bundle adequate for an undergraduate comparative study?</a:t>
            </a:r>
            <a:endParaRPr lang="en-US" sz="1050" dirty="0"/>
          </a:p>
        </p:txBody>
      </p:sp>
      <p:sp>
        <p:nvSpPr>
          <p:cNvPr id="17" name="Shape 10"/>
          <p:cNvSpPr/>
          <p:nvPr/>
        </p:nvSpPr>
        <p:spPr>
          <a:xfrm>
            <a:off x="3925119" y="3249067"/>
            <a:ext cx="4722763" cy="1197546"/>
          </a:xfrm>
          <a:prstGeom prst="roundRect">
            <a:avLst>
              <a:gd name="adj" fmla="val 7636"/>
            </a:avLst>
          </a:prstGeom>
          <a:solidFill>
            <a:srgbClr val="FBFCFE"/>
          </a:solidFill>
          <a:ln w="19050">
            <a:solidFill>
              <a:srgbClr val="CFD2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3230017"/>
            <a:ext cx="4722763" cy="76200"/>
          </a:xfrm>
          <a:prstGeom prst="rect">
            <a:avLst/>
          </a:prstGeom>
        </p:spPr>
      </p:pic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4503" y="3047107"/>
            <a:ext cx="403994" cy="403994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977124" y="3148087"/>
            <a:ext cx="390153" cy="2019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3</a:t>
            </a:r>
            <a:endParaRPr lang="en-US" sz="1250" dirty="0"/>
          </a:p>
        </p:txBody>
      </p:sp>
      <p:sp>
        <p:nvSpPr>
          <p:cNvPr id="21" name="Text 12"/>
          <p:cNvSpPr/>
          <p:nvPr/>
        </p:nvSpPr>
        <p:spPr>
          <a:xfrm>
            <a:off x="4078784" y="3585716"/>
            <a:ext cx="21406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Task Fairness</a:t>
            </a:r>
            <a:endParaRPr lang="en-US" sz="1300" dirty="0"/>
          </a:p>
        </p:txBody>
      </p:sp>
      <p:sp>
        <p:nvSpPr>
          <p:cNvPr id="22" name="Text 13"/>
          <p:cNvSpPr/>
          <p:nvPr/>
        </p:nvSpPr>
        <p:spPr>
          <a:xfrm>
            <a:off x="4078784" y="3872805"/>
            <a:ext cx="441543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Does constraining both tracks to one JSON IoT task fairly contrast HF seq2seq against quantized GGUF decoding?</a:t>
            </a:r>
            <a:endParaRPr lang="en-US" sz="10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152BD5-93B8-03A2-522C-F6005890690A}"/>
              </a:ext>
            </a:extLst>
          </p:cNvPr>
          <p:cNvSpPr/>
          <p:nvPr/>
        </p:nvSpPr>
        <p:spPr>
          <a:xfrm>
            <a:off x="7873711" y="4775200"/>
            <a:ext cx="1236133" cy="368300"/>
          </a:xfrm>
          <a:prstGeom prst="rect">
            <a:avLst/>
          </a:prstGeom>
          <a:solidFill>
            <a:srgbClr val="FBFDFF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1354</Words>
  <Application>Microsoft Macintosh PowerPoint</Application>
  <PresentationFormat>On-screen Show (16:9)</PresentationFormat>
  <Paragraphs>180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Roboto Slab Light</vt:lpstr>
      <vt:lpstr>Roboto Slab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Name</cp:lastModifiedBy>
  <cp:revision>4</cp:revision>
  <dcterms:created xsi:type="dcterms:W3CDTF">2026-05-16T08:18:52Z</dcterms:created>
  <dcterms:modified xsi:type="dcterms:W3CDTF">2026-05-16T09:38:39Z</dcterms:modified>
</cp:coreProperties>
</file>